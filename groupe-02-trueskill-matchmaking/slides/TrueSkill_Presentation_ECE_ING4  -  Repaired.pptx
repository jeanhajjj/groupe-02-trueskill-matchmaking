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718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6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499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97280" y="1005840"/>
            <a:ext cx="694944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Shape 3"/>
          <p:cNvSpPr/>
          <p:nvPr/>
        </p:nvSpPr>
        <p:spPr>
          <a:xfrm>
            <a:off x="1097280" y="1005840"/>
            <a:ext cx="91440" cy="310896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 Matchmaking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classement Bayésien compétitif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880360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Paris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ING4  ·  Groupe 02 Jean EL HAJ Sacha GIRSZYN Theo MELLY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88036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38912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Bayésien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89788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ELO ne suffit pas 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31920" cy="3749040"/>
          </a:xfrm>
          <a:prstGeom prst="rect">
            <a:avLst/>
          </a:prstGeom>
          <a:solidFill>
            <a:srgbClr val="1A0A0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9319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ELO  (système classique)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chiffre  (ex: 1200)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mesure d'incertitude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fixe  K = 32  par match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lente vers le vrai niveau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conçu pour les équipes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3931920" cy="3749040"/>
          </a:xfrm>
          <a:prstGeom prst="rect">
            <a:avLst/>
          </a:prstGeom>
          <a:solidFill>
            <a:srgbClr val="0A1A0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892040" y="1005840"/>
            <a:ext cx="393192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TrueSkill  (notre solution)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paramètres : µ (niveau) + σ (incertitude)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 la confiance dans l'estimation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proportionnelle à σ²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3-4× plus rapide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et matchs nuls natifs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2468880"/>
            <a:ext cx="502920" cy="27432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315968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 : La Gaussienne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joueur = une courbe en cloche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" cy="50292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 (mu)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de la courbe = estimation du niveau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(sigma)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63347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Largeur de la courbe = incertitude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749040" cy="128016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74904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des 3 sigma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± 3σ  contient  99.7%  des valeurs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Score conservateur  =  µ − 3σ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16052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006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554480"/>
            <a:ext cx="3840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00600" y="1554480"/>
            <a:ext cx="64008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3776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901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= 35,  σ = 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212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35 − 15 = 20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2926080"/>
            <a:ext cx="3840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00600" y="2926080"/>
            <a:ext cx="64008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= 30,  σ = 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584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30 − 3 = 27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4343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 est classé DEVANT A malgré un µ plus faible,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car σ_B (1) &lt;&lt; σ_A (5) — B est bien plus certain 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8 modules Python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42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Niveau Minimum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481328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29768" y="1481328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 + matchs 1v1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176272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29768" y="2176272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matchmaking.py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de victoire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2871216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29768" y="2871216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visualisation.py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1638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 PNG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" y="3566160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29768" y="3566160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48640" y="3602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85876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960120"/>
            <a:ext cx="274320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91840" y="960120"/>
            <a:ext cx="2743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38328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Niveau Bon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01568" y="1481328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401568" y="1481328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52044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elo.py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1773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ELO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01568" y="2176272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401568" y="2176272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520440" y="2212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equipes.py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20440" y="24688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2v2 + nuls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960120"/>
            <a:ext cx="27432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263640" y="960120"/>
            <a:ext cx="27432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35508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Niveau Excellent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73368" y="1481328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373368" y="1481328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49224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dynamique.py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1773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Saisons + decay 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73368" y="2176272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373368" y="2176272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492240" y="2212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trueskill2.py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24688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composite TS2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73368" y="2871216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373368" y="2871216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492240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92240" y="31638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Niveau Minimum — Simulation 1v1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Minimum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10 joueurs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µ=25, σ=8.33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394460"/>
            <a:ext cx="347472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56032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56032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matchs 1v1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aléatoires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1394460"/>
            <a:ext cx="347472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5488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µ, σ recalculés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394460"/>
            <a:ext cx="347472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94944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94944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− 3σ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conservateur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965960"/>
            <a:ext cx="4160520" cy="96012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196596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2029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du résultat du match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304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P(j1 gagne) = 1 / (1 + 10^(-diff / 10))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2633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= compétence(j1) - compétence(j2)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965960"/>
            <a:ext cx="416052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663440" y="1965960"/>
            <a:ext cx="41605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00600" y="2029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après le match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423160"/>
            <a:ext cx="3840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800600" y="242316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919472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Vainqueur 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2734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monte  ↑    σ diminue  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246120"/>
            <a:ext cx="3840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800600" y="3246120"/>
            <a:ext cx="54864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919472" y="32826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Perdant 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3557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descend ↓    σ diminue aussi 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joueurs apprennent de chaque match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017520"/>
            <a:ext cx="41605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02920" y="3090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compétence est CACHÉE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 ne voit que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"Joueur A a gagné"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estime le niveau par 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Bayésienne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 µ et σ — Preuves visuelles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Minimum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605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µ — Convergence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840480" cy="237744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joués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541432"/>
            <a:ext cx="374904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488" y="2423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µ=25 (départ)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611287"/>
            <a:ext cx="356616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48640" y="1554480"/>
            <a:ext cx="3566160" cy="0"/>
          </a:xfrm>
          <a:prstGeom prst="line">
            <a:avLst/>
          </a:prstGeom>
          <a:noFill/>
          <a:ln w="12700">
            <a:solidFill>
              <a:srgbClr val="4ADE80"/>
            </a:solidFill>
            <a:prstDash val="sysDot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 flipV="1">
            <a:off x="548640" y="2066544"/>
            <a:ext cx="3393773" cy="529752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48640" y="1874520"/>
            <a:ext cx="3566160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ysDot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 flipV="1">
            <a:off x="566928" y="1746503"/>
            <a:ext cx="3105662" cy="830494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48640" y="2240280"/>
            <a:ext cx="356616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ysDot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48640" y="2606040"/>
            <a:ext cx="3566160" cy="41148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356616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ysDot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3566160" cy="960120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3566160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ysDot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12064" y="255117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66928" y="23500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4078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µ estimé (part tous de 25)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·····  Vraie compétence cachée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60120"/>
            <a:ext cx="4160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7" name="Shape 25"/>
          <p:cNvSpPr/>
          <p:nvPr/>
        </p:nvSpPr>
        <p:spPr>
          <a:xfrm>
            <a:off x="4663440" y="96012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006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σ — Certitude </a:t>
            </a:r>
            <a:r>
              <a:rPr lang="en-US" sz="13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decroissante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1417320"/>
            <a:ext cx="3840480" cy="237744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00600" y="3840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joués 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1490472"/>
            <a:ext cx="374904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18888" y="1399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8.33 (départ)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846320" y="1499616"/>
            <a:ext cx="3657600" cy="1993392"/>
          </a:xfrm>
          <a:prstGeom prst="line">
            <a:avLst/>
          </a:prstGeom>
          <a:noFill/>
          <a:ln w="2286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846320" y="1536192"/>
            <a:ext cx="3657600" cy="1967789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846320" y="1572768"/>
            <a:ext cx="3657600" cy="1942186"/>
          </a:xfrm>
          <a:prstGeom prst="line">
            <a:avLst/>
          </a:prstGeom>
          <a:noFill/>
          <a:ln w="2286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846320" y="1609344"/>
            <a:ext cx="3657600" cy="1916582"/>
          </a:xfrm>
          <a:prstGeom prst="line">
            <a:avLst/>
          </a:prstGeom>
          <a:noFill/>
          <a:ln w="2286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846320" y="1645920"/>
            <a:ext cx="3657600" cy="1890979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846320" y="3675888"/>
            <a:ext cx="365760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18888" y="35844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→ 0  (certitude maximale)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00600" y="40782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 µ converge sans jamais voir le vrai niveau
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C'est l'inférence Bayésienne  »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Niveau Bon — ELO vs TrueSkill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200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TrueSkill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(elo)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(µ, σ)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à jour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32 fixe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Proportionnel à σ²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Incertitude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modélisée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explicite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natif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Natif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nul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= 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draw_probability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3-4× plus rapide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5"/>
          <p:cNvSpPr/>
          <p:nvPr/>
        </p:nvSpPr>
        <p:spPr>
          <a:xfrm>
            <a:off x="365760" y="4572000"/>
            <a:ext cx="54864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02920" y="462686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convergent vers le même classement, mais TrueSkill dit AVEC QUELLE CERTITUDE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Matchs par Équipes — 2v2 avec Match Nul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605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d'une équipe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µ_équipe  =  µ₁ + µ₂ + 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des niveaux individuels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σ_équipe  =  √(σ₁² + σ₂² + ...)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Racine de la somme des variances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6052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006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de match nul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proximite  =  1 - |prob_e1 - 0.5| ×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737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prob_nul  =  draw_prob × proximite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les équipes sont proches → plus le nul est probable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8503920" cy="169164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85039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264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Snake Draft — Équipes équilibrées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[A, B, C, D, E, F] par µ décroissant (A = meilleur)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1051560" cy="411480"/>
          </a:xfrm>
          <a:prstGeom prst="rect">
            <a:avLst/>
          </a:prstGeom>
          <a:solidFill>
            <a:srgbClr val="2A1500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0292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828800" y="3931920"/>
            <a:ext cx="1051560" cy="411480"/>
          </a:xfrm>
          <a:prstGeom prst="rect">
            <a:avLst/>
          </a:prstGeom>
          <a:solidFill>
            <a:srgbClr val="001A2A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82880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154680" y="3931920"/>
            <a:ext cx="1051560" cy="411480"/>
          </a:xfrm>
          <a:prstGeom prst="rect">
            <a:avLst/>
          </a:prstGeom>
          <a:solidFill>
            <a:srgbClr val="2A1500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15468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480560" y="3931920"/>
            <a:ext cx="1051560" cy="411480"/>
          </a:xfrm>
          <a:prstGeom prst="rect">
            <a:avLst/>
          </a:prstGeom>
          <a:solidFill>
            <a:srgbClr val="001A2A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48056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806440" y="3931920"/>
            <a:ext cx="1051560" cy="411480"/>
          </a:xfrm>
          <a:prstGeom prst="rect">
            <a:avLst/>
          </a:prstGeom>
          <a:solidFill>
            <a:srgbClr val="2A1500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80644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132320" y="3931920"/>
            <a:ext cx="1051560" cy="411480"/>
          </a:xfrm>
          <a:prstGeom prst="rect">
            <a:avLst/>
          </a:prstGeom>
          <a:solidFill>
            <a:srgbClr val="001A2A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713232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= [A, C, E]  (orange)        E2 = [B, D, F]  (bleu)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Niveau Excellent — Dynamique Temporelle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Excellent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554480" cy="731520"/>
          </a:xfrm>
          <a:prstGeom prst="rect">
            <a:avLst/>
          </a:prstGeom>
          <a:solidFill>
            <a:srgbClr val="0A0F2A"/>
          </a:solidFill>
          <a:ln w="1905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matchs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057400" y="1051560"/>
            <a:ext cx="1554480" cy="731520"/>
          </a:xfrm>
          <a:prstGeom prst="rect">
            <a:avLst/>
          </a:prstGeom>
          <a:solidFill>
            <a:srgbClr val="1A1200"/>
          </a:solidFill>
          <a:ln w="254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05740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× 1.15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794760" y="1051560"/>
            <a:ext cx="1554480" cy="731520"/>
          </a:xfrm>
          <a:prstGeom prst="rect">
            <a:avLst/>
          </a:prstGeom>
          <a:solidFill>
            <a:srgbClr val="0A0F2A"/>
          </a:solidFill>
          <a:ln w="1905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79476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matchs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532120" y="1051560"/>
            <a:ext cx="1554480" cy="731520"/>
          </a:xfrm>
          <a:prstGeom prst="rect">
            <a:avLst/>
          </a:prstGeom>
          <a:solidFill>
            <a:srgbClr val="1A1200"/>
          </a:solidFill>
          <a:ln w="254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53212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× 1.15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7269480" y="1051560"/>
            <a:ext cx="1554480" cy="731520"/>
          </a:xfrm>
          <a:prstGeom prst="rect">
            <a:avLst/>
          </a:prstGeom>
          <a:solidFill>
            <a:srgbClr val="0A0F2A"/>
          </a:solidFill>
          <a:ln w="1905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26948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matchs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1965960"/>
            <a:ext cx="416052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1965960"/>
            <a:ext cx="4160520" cy="365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Decay — Inter-saison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4231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augmente de 15%  →  σ_new = σ × 1.15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reste inchangé  →  toujours le même niveau estimé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est moins certain → recalibrage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compétences cachées évoluent aussi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(random.gauss(µ=0, σ=2))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965960"/>
            <a:ext cx="416052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663440" y="1965960"/>
            <a:ext cx="416052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0060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 Jeux Vidéo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2487168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800600" y="2487168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919472" y="2523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of Legends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9472" y="2788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de rang entre saisons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218688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800600" y="3218688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919472" y="3255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Réévaluation des rangs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950208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800600" y="3950208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919472" y="3986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Live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9472" y="4251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TrueSkill original (2006)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TrueSkill 2 — Score Composite  (Microsoft 2018)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Excellent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4320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" y="1024128"/>
            <a:ext cx="347472" cy="347472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033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TrueSkill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µ − 3σ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du classement conservateur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960120"/>
            <a:ext cx="274320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64408" y="960120"/>
            <a:ext cx="2743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355848" y="1024128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355848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67328" y="1033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55848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nb_victoires / nb_matchs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victoire  (0 = perd tout, 1 = gagne tout)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08776" y="960120"/>
            <a:ext cx="274320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208776" y="960120"/>
            <a:ext cx="2743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300216" y="1024128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30021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11696" y="1033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d'activité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0216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e^(-n / 15)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0216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liée au nombre de matchs joués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246120"/>
            <a:ext cx="8503920" cy="77724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3246120"/>
            <a:ext cx="8503920" cy="365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TS2  =  (µ − 3σ)  ×  (0.4 + 0.6 × consistance)  ×  (0.4 + 0.6 × activité)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20040" y="4114800"/>
            <a:ext cx="8503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4187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A  ·  µ=35, σ=2, 80% victoires, 30 matchs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462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TS1 = 29   →   TS2 ≈ 23.5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4187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B  ·  µ=34, σ=2, 30% victoires, 30 matchs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4462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TS1 = 28   →   TS2 ≈ 14.9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classé DEVANT B malgré des µ quasi-identiques — la consistance fait la différence 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 — Dashboard Streamlit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062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Niveau Minimum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 de convergence µ/σ interactifs (Plotly)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9204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Niveau Bon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356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ELO vs TrueSkill + matchs d'équipes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420624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Niveau Excellent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8529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Saisons + heatmap des classements inter-saisons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420624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9204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Matchmaking Live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8529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2 joueurs → proba en temps réel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8503920" cy="109728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85039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interactive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: nb_joueurs, nb_matchs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Graine aléatoire (reproductible)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 : évite de relancer si params inchangés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: graphes zoomables avec survol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Complexité Algorithmique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241401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N matchs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appels à simuler_match()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Classement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sorted() = tri rapide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Matchmaking intelligent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O(N×n)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adversaire à chaque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Saisons complètes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O(S×N)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saisons × N matchs/saison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complet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seconde pour 200 matchs / 10 joueurs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840480"/>
            <a:ext cx="85039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320040" y="3840480"/>
            <a:ext cx="85039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57200" y="3904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57200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664208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1664208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71216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0"/>
          <p:cNvSpPr/>
          <p:nvPr/>
        </p:nvSpPr>
        <p:spPr>
          <a:xfrm>
            <a:off x="2871216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78224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078224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85232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285232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492240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99248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7699248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605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démontré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Convergence Bayésienne sans voir le vrai niveau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TrueSkill surpasse ELO en richesse d'information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Équipes et matchs nuls gérés nativement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Modélisation temporelle (decay inter-saison)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TrueSkill 2 : classification plus discriminante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Données réelles — Chess.com, League of Legends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Implémenter l'algorithme EP manuellement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Mesurer la vitesse de convergence TS1 vs TS2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Modéliser les comportements (AFK, smurfs)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297680"/>
            <a:ext cx="8503920" cy="685800"/>
          </a:xfrm>
          <a:prstGeom prst="rect">
            <a:avLst/>
          </a:prstGeom>
          <a:solidFill>
            <a:srgbClr val="0A0F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4297680"/>
            <a:ext cx="73152" cy="6858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43525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 TrueSkill : là où ELO donne un chiffre, Bayes donne une certitude  »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1236</Words>
  <Application>Microsoft Macintosh PowerPoint</Application>
  <PresentationFormat>On-screen Show (16:9)</PresentationFormat>
  <Paragraphs>256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TrueSkill Matchmaking — ECE Paris ING4 Groupe 02</dc:title>
  <dc:subject>PptxGenJS Presentation</dc:subject>
  <dc:creator>ECE Paris ING4 Groupe 02</dc:creator>
  <cp:lastModifiedBy>Jean EL HAJ</cp:lastModifiedBy>
  <cp:revision>3</cp:revision>
  <dcterms:created xsi:type="dcterms:W3CDTF">2026-03-30T16:12:16Z</dcterms:created>
  <dcterms:modified xsi:type="dcterms:W3CDTF">2026-03-31T07:09:52Z</dcterms:modified>
</cp:coreProperties>
</file>